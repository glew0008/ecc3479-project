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1" r:id="rId10"/>
    <p:sldId id="265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 and Income in Australia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ABS Census 2016 and 2021 | Australian males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and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does educational attainment affect personal income for Australian males, and how did that relationship change from 2016 to 2021?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Why it matters:</a:t>
            </a:r>
          </a:p>
          <a:p>
            <a:pPr>
              <a:defRPr sz="1800"/>
            </a:pPr>
            <a:r>
              <a:t>- Education-income gradients are central to inequality and labour-market policy.</a:t>
            </a:r>
          </a:p>
          <a:p>
            <a:pPr>
              <a:defRPr sz="1800"/>
            </a:pPr>
            <a:r>
              <a:t>- Governments, students, and employers all rely on returns-to-education evidence.</a:t>
            </a:r>
          </a:p>
          <a:p>
            <a:pPr>
              <a:defRPr sz="1800"/>
            </a:pPr>
            <a:r>
              <a:t>- The census data let us compare population-level outcomes across two Census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1371600"/>
          </a:xfrm>
        </p:spPr>
        <p:txBody>
          <a:bodyPr/>
          <a:lstStyle/>
          <a:p>
            <a:pPr>
              <a:defRPr sz="1600"/>
            </a:pPr>
            <a:r>
              <a:t>Source: ABS Census TableBuilder 2016 and 2021. Sample: Australian males; 8 education groups (Certificate I/II through Postgraduate). Exclusions: Total, Not stated, Not applicable, Supplementary Codes. Income brackets harmonised and converted to weekly midpoints.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600000"/>
          <a:ext cx="8229600" cy="3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Education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 (2016)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Ed. Rank (1=lowest)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Secondary Yr 9 and 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674,970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683,386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Secondary Yr 10 and above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2,699,216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2,869,337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Certificate I &amp;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6,179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Certificate III &amp;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1,988,369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2,132,611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Advanced Diploma / Diploma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701,942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817,960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Bachelor 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1,236,667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1,552,228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Grad. Diploma /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133,704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167,361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Postgraduate 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459,793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658,828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7,900,710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8,887,890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Model: weighted mean income = α + β * education rank + γ * year indicator.</a:t>
            </a:r>
          </a:p>
          <a:p>
            <a:pPr>
              <a:defRPr sz="1800"/>
            </a:pPr>
            <a:r>
              <a:t>Key coefficient: β is the average weekly income gap per education rank step.</a:t>
            </a:r>
          </a:p>
          <a:p>
            <a:pPr>
              <a:defRPr sz="1800"/>
            </a:pPr>
            <a:r>
              <a:t>Weights: use cell counts because rows represent different population sizes.</a:t>
            </a:r>
          </a:p>
          <a:p>
            <a:pPr>
              <a:defRPr sz="1800"/>
            </a:pPr>
            <a:r>
              <a:t>Assumption: this is descriptive, not causal. Education rank is not exogenous to income because age, occupation, hours, and location may differ by education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 — Education-Income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62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Education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Wtd. Mean Income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Wtd. Mean Income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High Income Share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High Income Share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Postgraduate 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Grad. Diploma / Cert.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Bachelor 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Adv. Diploma / Diploma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Certificate III &amp;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Secondary Yr 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Secondary Yr 9 and 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Top-to-bottom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$1,268/wk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$1,386/wk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36.8 pp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41.8 pp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Note 3"/>
          <p:cNvSpPr txBox="1"/>
          <p:nvPr/>
        </p:nvSpPr>
        <p:spPr>
          <a:xfrm>
            <a:off x="457200" y="5800000"/>
            <a:ext cx="8229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900" i="1"/>
              <a:t>Note: High income share = % earning $1,500+/wk. Source: ABS Census TableBuilder 2016 &amp; 2021. Australian males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Headline finding: each one-step increase in education rank is associated with about $196 more per week in weighted mean income.</a:t>
            </a:r>
          </a:p>
        </p:txBody>
      </p:sp>
      <p:pic>
        <p:nvPicPr>
          <p:cNvPr id="4" name="Picture 3" descr="weighted_mean_income_by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2762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5648A-F0BD-1089-41E6-7FDDC0649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itleText 5"/>
          <p:cNvSpPr txBox="1"/>
          <p:nvPr/>
        </p:nvSpPr>
        <p:spPr>
          <a:xfrm>
            <a:off x="393192" y="431837"/>
            <a:ext cx="8229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/>
              <a:t>Education-Income Gradient: 2016 vs 2021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4301"/>
            <a:ext cx="822960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2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E564-5A39-6977-8E6D-4E05AAC5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6DA7F-2591-7FE2-0C60-E18F8A2D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itleText 5"/>
          <p:cNvSpPr txBox="1"/>
          <p:nvPr/>
        </p:nvSpPr>
        <p:spPr>
          <a:xfrm>
            <a:off x="457200" y="200000"/>
            <a:ext cx="8229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/>
              <a:t>Income CDF by Year: Rightward Shift from 2016 to 2021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3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Robustness: the association survives unweighted models, no-year models, alternative income transformations, and year-specific samples.</a:t>
            </a:r>
          </a:p>
          <a:p>
            <a:pPr>
              <a:defRPr sz="1800"/>
            </a:pPr>
            <a:r>
              <a:rPr dirty="0"/>
              <a:t>Limitation: grouped census data lack individual-level controls for age, occupation, hours worked, region, and firm characteristics.</a:t>
            </a:r>
          </a:p>
          <a:p>
            <a:pPr>
              <a:defRPr sz="1800"/>
            </a:pPr>
            <a:r>
              <a:rPr dirty="0"/>
              <a:t>Largest threat: omitted-variable bias from composition differences across education groups and measurement error from income bracket midpoints.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β (education rank)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$195.88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WLS with year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Drop top bracket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$145.74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Exclude open-ended top bracket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2021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2021 sample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2016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$187.77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2016 sample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Unweighted 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No weighting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Conclusion: there is a strong descriptive education-income gradient for Australian males in 2016 and 2021 census aggregates.</a:t>
            </a:r>
          </a:p>
          <a:p>
            <a:pPr>
              <a:defRPr sz="1800"/>
            </a:pPr>
            <a:r>
              <a:t>What we cannot conclude: a causal return to education from this grouped data.</a:t>
            </a:r>
          </a:p>
          <a:p>
            <a:pPr>
              <a:defRPr sz="1800"/>
            </a:pPr>
            <a:r>
              <a:t>Next step: use individual-level microdata with controls, or seek quasi-experimental variation or longitudinal data to address the main threat.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658</Words>
  <Application>Microsoft Office PowerPoint</Application>
  <PresentationFormat>On-screen Show (4:3)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Education and Income in Australia</vt:lpstr>
      <vt:lpstr>Research question and why it matters</vt:lpstr>
      <vt:lpstr>Data</vt:lpstr>
      <vt:lpstr>Empirical strategy</vt:lpstr>
      <vt:lpstr>Main results — Education-Income Summary</vt:lpstr>
      <vt:lpstr>Main results</vt:lpstr>
      <vt:lpstr>PowerPoint Presentation</vt:lpstr>
      <vt:lpstr>PowerPoint Presentation</vt:lpstr>
      <vt:lpstr>Robustness and limitations</vt:lpstr>
      <vt:lpstr>Robustness summary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George Lewis</dc:creator>
  <cp:keywords/>
  <dc:description>generated using python-pptx</dc:description>
  <cp:lastModifiedBy>George Lewis</cp:lastModifiedBy>
  <cp:revision>3</cp:revision>
  <dcterms:created xsi:type="dcterms:W3CDTF">2013-01-27T09:14:16Z</dcterms:created>
  <dcterms:modified xsi:type="dcterms:W3CDTF">2026-05-25T06:34:24Z</dcterms:modified>
  <cp:category/>
</cp:coreProperties>
</file>