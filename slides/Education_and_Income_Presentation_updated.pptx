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1" r:id="rId10"/>
    <p:sldId id="265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Lewis" userId="09c2c9ccd486a171" providerId="LiveId" clId="{C7FFF7A7-2C27-497E-8D5C-F9765F6B16A5}"/>
    <pc:docChg chg="undo custSel addSld delSld modSld sldOrd">
      <pc:chgData name="George Lewis" userId="09c2c9ccd486a171" providerId="LiveId" clId="{C7FFF7A7-2C27-497E-8D5C-F9765F6B16A5}" dt="2026-05-25T06:24:51.482" v="15" actId="22"/>
      <pc:docMkLst>
        <pc:docMk/>
      </pc:docMkLst>
      <pc:sldChg chg="ord">
        <pc:chgData name="George Lewis" userId="09c2c9ccd486a171" providerId="LiveId" clId="{C7FFF7A7-2C27-497E-8D5C-F9765F6B16A5}" dt="2026-05-25T06:22:41.496" v="13"/>
        <pc:sldMkLst>
          <pc:docMk/>
          <pc:sldMk cId="0" sldId="263"/>
        </pc:sldMkLst>
      </pc:sldChg>
      <pc:sldChg chg="delSp modSp del mod">
        <pc:chgData name="George Lewis" userId="09c2c9ccd486a171" providerId="LiveId" clId="{C7FFF7A7-2C27-497E-8D5C-F9765F6B16A5}" dt="2026-05-25T06:18:58.194" v="7" actId="47"/>
        <pc:sldMkLst>
          <pc:docMk/>
          <pc:sldMk cId="0" sldId="264"/>
        </pc:sldMkLst>
        <pc:picChg chg="mod">
          <ac:chgData name="George Lewis" userId="09c2c9ccd486a171" providerId="LiveId" clId="{C7FFF7A7-2C27-497E-8D5C-F9765F6B16A5}" dt="2026-05-25T06:18:43.827" v="6" actId="14100"/>
          <ac:picMkLst>
            <pc:docMk/>
            <pc:sldMk cId="0" sldId="264"/>
            <ac:picMk id="3" creationId="{00000000-0000-0000-0000-000000000000}"/>
          </ac:picMkLst>
        </pc:picChg>
        <pc:picChg chg="del">
          <ac:chgData name="George Lewis" userId="09c2c9ccd486a171" providerId="LiveId" clId="{C7FFF7A7-2C27-497E-8D5C-F9765F6B16A5}" dt="2026-05-25T06:18:38.897" v="4" actId="478"/>
          <ac:picMkLst>
            <pc:docMk/>
            <pc:sldMk cId="0" sldId="264"/>
            <ac:picMk id="4" creationId="{00000000-0000-0000-0000-000000000000}"/>
          </ac:picMkLst>
        </pc:picChg>
      </pc:sldChg>
      <pc:sldChg chg="addSp delSp mod ord">
        <pc:chgData name="George Lewis" userId="09c2c9ccd486a171" providerId="LiveId" clId="{C7FFF7A7-2C27-497E-8D5C-F9765F6B16A5}" dt="2026-05-25T06:18:31.264" v="3"/>
        <pc:sldMkLst>
          <pc:docMk/>
          <pc:sldMk cId="0" sldId="265"/>
        </pc:sldMkLst>
        <pc:spChg chg="add del">
          <ac:chgData name="George Lewis" userId="09c2c9ccd486a171" providerId="LiveId" clId="{C7FFF7A7-2C27-497E-8D5C-F9765F6B16A5}" dt="2026-05-25T06:18:22.255" v="1" actId="22"/>
          <ac:spMkLst>
            <pc:docMk/>
            <pc:sldMk cId="0" sldId="265"/>
            <ac:spMk id="5" creationId="{2A7D7CDE-D132-5C6C-DB37-5FBE546E2F91}"/>
          </ac:spMkLst>
        </pc:spChg>
      </pc:sldChg>
      <pc:sldChg chg="addSp new mod">
        <pc:chgData name="George Lewis" userId="09c2c9ccd486a171" providerId="LiveId" clId="{C7FFF7A7-2C27-497E-8D5C-F9765F6B16A5}" dt="2026-05-25T06:21:46.458" v="9" actId="22"/>
        <pc:sldMkLst>
          <pc:docMk/>
          <pc:sldMk cId="3320729550" sldId="266"/>
        </pc:sldMkLst>
        <pc:picChg chg="add">
          <ac:chgData name="George Lewis" userId="09c2c9ccd486a171" providerId="LiveId" clId="{C7FFF7A7-2C27-497E-8D5C-F9765F6B16A5}" dt="2026-05-25T06:21:46.458" v="9" actId="22"/>
          <ac:picMkLst>
            <pc:docMk/>
            <pc:sldMk cId="3320729550" sldId="266"/>
            <ac:picMk id="5" creationId="{C0507CC3-0435-E134-E1F0-F26046E9D2C3}"/>
          </ac:picMkLst>
        </pc:picChg>
      </pc:sldChg>
      <pc:sldChg chg="addSp new mod">
        <pc:chgData name="George Lewis" userId="09c2c9ccd486a171" providerId="LiveId" clId="{C7FFF7A7-2C27-497E-8D5C-F9765F6B16A5}" dt="2026-05-25T06:24:51.482" v="15" actId="22"/>
        <pc:sldMkLst>
          <pc:docMk/>
          <pc:sldMk cId="1808836265" sldId="267"/>
        </pc:sldMkLst>
        <pc:picChg chg="add">
          <ac:chgData name="George Lewis" userId="09c2c9ccd486a171" providerId="LiveId" clId="{C7FFF7A7-2C27-497E-8D5C-F9765F6B16A5}" dt="2026-05-25T06:24:51.482" v="15" actId="22"/>
          <ac:picMkLst>
            <pc:docMk/>
            <pc:sldMk cId="1808836265" sldId="267"/>
            <ac:picMk id="5" creationId="{2B644A50-74A6-187F-DA54-08A206E780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 and Income in Australia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ABS Census 2016 and 2021 | Australian males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and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does educational attainment affect personal income for Australian males, and how did that relationship change from 2016 to 2021?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Why it matters:</a:t>
            </a:r>
          </a:p>
          <a:p>
            <a:pPr>
              <a:defRPr sz="1800"/>
            </a:pPr>
            <a:r>
              <a:t>- Education-income gradients are central to inequality and labour-market policy.</a:t>
            </a:r>
          </a:p>
          <a:p>
            <a:pPr>
              <a:defRPr sz="1800"/>
            </a:pPr>
            <a:r>
              <a:t>- Governments, students, and employers all rely on returns-to-education evidence.</a:t>
            </a:r>
          </a:p>
          <a:p>
            <a:pPr>
              <a:defRPr sz="1800"/>
            </a:pPr>
            <a:r>
              <a:t>- The census data let us compare population-level outcomes across two Census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Source: ABS Census TableBuilder 2016 and 2021.</a:t>
            </a:r>
          </a:p>
          <a:p>
            <a:pPr>
              <a:defRPr sz="1800"/>
            </a:pPr>
            <a:r>
              <a:t>Sample: Australian males only; 8 substantive education groups.</a:t>
            </a:r>
          </a:p>
          <a:p>
            <a:pPr>
              <a:defRPr sz="1800"/>
            </a:pPr>
            <a:r>
              <a:t>Exclusions: Total, Not stated, Not applicable, Supplementary Codes.</a:t>
            </a:r>
          </a:p>
          <a:p>
            <a:pPr>
              <a:defRPr sz="1800"/>
            </a:pPr>
            <a:r>
              <a:t>Key variables: education group, income bracket, cell counts, year.</a:t>
            </a:r>
          </a:p>
          <a:p>
            <a:pPr>
              <a:defRPr sz="1800"/>
            </a:pPr>
            <a:r>
              <a:t>Data treatment: harmonised top income brackets and converted bracket values to weekly midpoints.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Model: weighted mean income = α + β * education rank + γ * year indicator.</a:t>
            </a:r>
          </a:p>
          <a:p>
            <a:pPr>
              <a:defRPr sz="1800"/>
            </a:pPr>
            <a:r>
              <a:t>Key coefficient: β is the average weekly income gap per education rank step.</a:t>
            </a:r>
          </a:p>
          <a:p>
            <a:pPr>
              <a:defRPr sz="1800"/>
            </a:pPr>
            <a:r>
              <a:t>Weights: use cell counts because rows represent different population sizes.</a:t>
            </a:r>
          </a:p>
          <a:p>
            <a:pPr>
              <a:defRPr sz="1800"/>
            </a:pPr>
            <a:r>
              <a:t>Assumption: this is descriptive, not causal. Education rank is not exogenous to income because age, occupation, hours, and location may differ by education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Headline finding: each one-step increase in education rank is associated with about $196 more per week in weighted mean income.</a:t>
            </a:r>
          </a:p>
          <a:p>
            <a:pPr>
              <a:defRPr sz="1800"/>
            </a:pPr>
            <a:r>
              <a:t>Controlling for year, 2021 incomes are also about $121/week higher than 2016.</a:t>
            </a:r>
          </a:p>
          <a:p>
            <a:pPr>
              <a:defRPr sz="1800"/>
            </a:pPr>
            <a:r>
              <a:t>The low-to-high education gap is roughly $1,372/week, or about $71,300/year.</a:t>
            </a:r>
          </a:p>
          <a:p>
            <a:pPr>
              <a:defRPr sz="1800"/>
            </a:pPr>
            <a:r>
              <a:t>The pattern is visible in every year and is consistent across main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Headline finding: each one-step increase in education rank is associated with about $196 more per week in weighted mean income.</a:t>
            </a:r>
          </a:p>
        </p:txBody>
      </p:sp>
      <p:pic>
        <p:nvPicPr>
          <p:cNvPr id="4" name="Picture 3" descr="weighted_mean_income_by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1797-C37E-E59F-4B28-CDFC4508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5648A-F0BD-1089-41E6-7FDDC0649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07CC3-0435-E134-E1F0-F26046E9D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2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E564-5A39-6977-8E6D-4E05AAC5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6DA7F-2591-7FE2-0C60-E18F8A2D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44A50-74A6-187F-DA54-08A206E78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3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Robustness: the association survives unweighted models, no-year models, alternative income transformations, and year-specific samples.</a:t>
            </a:r>
          </a:p>
          <a:p>
            <a:pPr>
              <a:defRPr sz="1800"/>
            </a:pPr>
            <a:r>
              <a:rPr dirty="0"/>
              <a:t>Limitation: grouped census data lack individual-level controls for age, occupation, hours worked, region, and firm characteristics.</a:t>
            </a:r>
          </a:p>
          <a:p>
            <a:pPr>
              <a:defRPr sz="1800"/>
            </a:pPr>
            <a:r>
              <a:rPr dirty="0"/>
              <a:t>Largest threat: omitted-variable bias from composition differences across education groups and measurement error from income bracket midpoints.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β (education rank)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$195.88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WLS with year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Drop top bracket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$145.74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Exclude open-ended top bracket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2021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2021 sample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2016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$187.77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2016 sample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Unweighted 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No weighting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Conclusion: there is a strong descriptive education-income gradient for Australian males in 2016 and 2021 census aggregates.</a:t>
            </a:r>
          </a:p>
          <a:p>
            <a:pPr>
              <a:defRPr sz="1800"/>
            </a:pPr>
            <a:r>
              <a:t>What we cannot conclude: a causal return to education from this grouped data.</a:t>
            </a:r>
          </a:p>
          <a:p>
            <a:pPr>
              <a:defRPr sz="1800"/>
            </a:pPr>
            <a:r>
              <a:t>Next step: use individual-level microdata with controls, or seek quasi-experimental variation or longitudinal data to address the main threat.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502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Education and Income in Australia</vt:lpstr>
      <vt:lpstr>Research question and why it matters</vt:lpstr>
      <vt:lpstr>Data</vt:lpstr>
      <vt:lpstr>Empirical strategy</vt:lpstr>
      <vt:lpstr>Main results</vt:lpstr>
      <vt:lpstr>Main results</vt:lpstr>
      <vt:lpstr>PowerPoint Presentation</vt:lpstr>
      <vt:lpstr>PowerPoint Presentation</vt:lpstr>
      <vt:lpstr>Robustness and limitations</vt:lpstr>
      <vt:lpstr>Robustness summary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George Lewis</cp:lastModifiedBy>
  <cp:revision>1</cp:revision>
  <dcterms:created xsi:type="dcterms:W3CDTF">2013-01-27T09:14:16Z</dcterms:created>
  <dcterms:modified xsi:type="dcterms:W3CDTF">2026-05-25T06:25:01Z</dcterms:modified>
  <cp:category/>
</cp:coreProperties>
</file>