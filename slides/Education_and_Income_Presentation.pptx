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Education and Income in Australia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ABS Census 2016 and 2021 | Australian males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question and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How does educational attainment affect personal income for Australian males, and how did that relationship change from 2016 to 2021?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Why it matters:</a:t>
            </a:r>
          </a:p>
          <a:p>
            <a:pPr>
              <a:defRPr sz="1800"/>
            </a:pPr>
            <a:r>
              <a:t>- Education-income gradients are central to inequality and labour-market policy.</a:t>
            </a:r>
          </a:p>
          <a:p>
            <a:pPr>
              <a:defRPr sz="1800"/>
            </a:pPr>
            <a:r>
              <a:t>- Governments, students, and employers all rely on returns-to-education evidence.</a:t>
            </a:r>
          </a:p>
          <a:p>
            <a:pPr>
              <a:defRPr sz="1800"/>
            </a:pPr>
            <a:r>
              <a:t>- The census data let us compare population-level outcomes across two Census years.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Source: ABS Census TableBuilder 2016 and 2021.</a:t>
            </a:r>
          </a:p>
          <a:p>
            <a:pPr>
              <a:defRPr sz="1800"/>
            </a:pPr>
            <a:r>
              <a:t>Sample: Australian males only; 8 substantive education groups.</a:t>
            </a:r>
          </a:p>
          <a:p>
            <a:pPr>
              <a:defRPr sz="1800"/>
            </a:pPr>
            <a:r>
              <a:t>Exclusions: Total, Not stated, Not applicable, Supplementary Codes.</a:t>
            </a:r>
          </a:p>
          <a:p>
            <a:pPr>
              <a:defRPr sz="1800"/>
            </a:pPr>
            <a:r>
              <a:t>Key variables: education group, income bracket, cell counts, year.</a:t>
            </a:r>
          </a:p>
          <a:p>
            <a:pPr>
              <a:defRPr sz="1800"/>
            </a:pPr>
            <a:r>
              <a:t>Data treatment: harmonised top income brackets and converted bracket values to weekly midpoints.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Empirical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Model: weighted mean income = α + β * education rank + γ * year indicator.</a:t>
            </a:r>
          </a:p>
          <a:p>
            <a:pPr>
              <a:defRPr sz="1800"/>
            </a:pPr>
            <a:r>
              <a:t>Key coefficient: β is the average weekly income gap per education rank step.</a:t>
            </a:r>
          </a:p>
          <a:p>
            <a:pPr>
              <a:defRPr sz="1800"/>
            </a:pPr>
            <a:r>
              <a:t>Weights: use cell counts because rows represent different population sizes.</a:t>
            </a:r>
          </a:p>
          <a:p>
            <a:pPr>
              <a:defRPr sz="1800"/>
            </a:pPr>
            <a:r>
              <a:t>Assumption: this is descriptive, not causal. Education rank is not exogenous to income because age, occupation, hours, and location may differ by education group.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Headline finding: each one-step increase in education rank is associated with about $196 more per week in weighted mean income.</a:t>
            </a:r>
          </a:p>
          <a:p>
            <a:pPr>
              <a:defRPr sz="1800"/>
            </a:pPr>
            <a:r>
              <a:t>Controlling for year, 2021 incomes are also about $121/week higher than 2016.</a:t>
            </a:r>
          </a:p>
          <a:p>
            <a:pPr>
              <a:defRPr sz="1800"/>
            </a:pPr>
            <a:r>
              <a:t>The low-to-high education gap is roughly $1,372/week, or about $71,300/year.</a:t>
            </a:r>
          </a:p>
          <a:p>
            <a:pPr>
              <a:defRPr sz="1800"/>
            </a:pPr>
            <a:r>
              <a:t>The pattern is visible in every year and is consistent across main groups.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Robustness and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Robustness: the association survives unweighted models, no-year models, alternative income transformations, and year-specific samples.</a:t>
            </a:r>
          </a:p>
          <a:p>
            <a:pPr>
              <a:defRPr sz="1800"/>
            </a:pPr>
            <a:r>
              <a:t>Limitation: grouped census data lack individual-level controls for age, occupation, hours worked, region, and firm characteristics.</a:t>
            </a:r>
          </a:p>
          <a:p>
            <a:pPr>
              <a:defRPr sz="1800"/>
            </a:pPr>
            <a:r>
              <a:t>Largest threat: omitted-variable bias from composition differences across education groups and measurement error from income bracket midpoints.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and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Conclusion: there is a strong descriptive education-income gradient for Australian males in 2016 and 2021 census aggregates.</a:t>
            </a:r>
          </a:p>
          <a:p>
            <a:pPr>
              <a:defRPr sz="1800"/>
            </a:pPr>
            <a:r>
              <a:t>What we cannot conclude: a causal return to education from this grouped data.</a:t>
            </a:r>
          </a:p>
          <a:p>
            <a:pPr>
              <a:defRPr sz="1800"/>
            </a:pPr>
            <a:r>
              <a:t>Next step: use individual-level microdata with controls, or seek quasi-experimental variation or longitudinal data to address the main threat.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Headline finding: each one-step increase in education rank is associated with about $196 more per week in weighted mean income.</a:t>
            </a:r>
          </a:p>
        </p:txBody>
      </p:sp>
      <p:pic>
        <p:nvPicPr>
          <p:cNvPr id="4" name="Picture 3" descr="weighted_mean_income_by_edu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8229600" cy="4800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