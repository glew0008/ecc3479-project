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orge Lewis" userId="09c2c9ccd486a171" providerId="LiveId" clId="{C7FFF7A7-2C27-497E-8D5C-F9765F6B16A5}"/>
    <pc:docChg chg="modSld sldOrd">
      <pc:chgData name="George Lewis" userId="09c2c9ccd486a171" providerId="LiveId" clId="{C7FFF7A7-2C27-497E-8D5C-F9765F6B16A5}" dt="2026-05-25T06:17:59.648" v="2"/>
      <pc:docMkLst>
        <pc:docMk/>
      </pc:docMkLst>
      <pc:sldChg chg="modSp mod ord">
        <pc:chgData name="George Lewis" userId="09c2c9ccd486a171" providerId="LiveId" clId="{C7FFF7A7-2C27-497E-8D5C-F9765F6B16A5}" dt="2026-05-25T06:17:59.648" v="2"/>
        <pc:sldMkLst>
          <pc:docMk/>
          <pc:sldMk cId="0" sldId="263"/>
        </pc:sldMkLst>
        <pc:picChg chg="mod">
          <ac:chgData name="George Lewis" userId="09c2c9ccd486a171" providerId="LiveId" clId="{C7FFF7A7-2C27-497E-8D5C-F9765F6B16A5}" dt="2026-05-25T05:50:12.789" v="0" actId="1076"/>
          <ac:picMkLst>
            <pc:docMk/>
            <pc:sldMk cId="0" sldId="263"/>
            <ac:picMk id="4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Education and Income in Australia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ABS Census 2016 and 2021 | Australian males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 and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How does educational attainment affect personal income for Australian males, and how did that relationship change from 2016 to 2021?</a:t>
            </a:r>
          </a:p>
          <a:p>
            <a:pPr>
              <a:defRPr sz="1800"/>
            </a:pPr>
            <a:endParaRPr/>
          </a:p>
          <a:p>
            <a:pPr>
              <a:defRPr sz="1800"/>
            </a:pPr>
            <a:r>
              <a:t>Why it matters:</a:t>
            </a:r>
          </a:p>
          <a:p>
            <a:pPr>
              <a:defRPr sz="1800"/>
            </a:pPr>
            <a:r>
              <a:t>- Education-income gradients are central to inequality and labour-market policy.</a:t>
            </a:r>
          </a:p>
          <a:p>
            <a:pPr>
              <a:defRPr sz="1800"/>
            </a:pPr>
            <a:r>
              <a:t>- Governments, students, and employers all rely on returns-to-education evidence.</a:t>
            </a:r>
          </a:p>
          <a:p>
            <a:pPr>
              <a:defRPr sz="1800"/>
            </a:pPr>
            <a:r>
              <a:t>- The census data let us compare population-level outcomes across two Census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Source: ABS Census TableBuilder 2016 and 2021.</a:t>
            </a:r>
          </a:p>
          <a:p>
            <a:pPr>
              <a:defRPr sz="1800"/>
            </a:pPr>
            <a:r>
              <a:t>Sample: Australian males only; 8 substantive education groups.</a:t>
            </a:r>
          </a:p>
          <a:p>
            <a:pPr>
              <a:defRPr sz="1800"/>
            </a:pPr>
            <a:r>
              <a:t>Exclusions: Total, Not stated, Not applicable, Supplementary Codes.</a:t>
            </a:r>
          </a:p>
          <a:p>
            <a:pPr>
              <a:defRPr sz="1800"/>
            </a:pPr>
            <a:r>
              <a:t>Key variables: education group, income bracket, cell counts, year.</a:t>
            </a:r>
          </a:p>
          <a:p>
            <a:pPr>
              <a:defRPr sz="1800"/>
            </a:pPr>
            <a:r>
              <a:t>Data treatment: harmonised top income brackets and converted bracket values to weekly midpoints.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Empirical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Model: weighted mean income = α + β * education rank + γ * year indicator.</a:t>
            </a:r>
          </a:p>
          <a:p>
            <a:pPr>
              <a:defRPr sz="1800"/>
            </a:pPr>
            <a:r>
              <a:t>Key coefficient: β is the average weekly income gap per education rank step.</a:t>
            </a:r>
          </a:p>
          <a:p>
            <a:pPr>
              <a:defRPr sz="1800"/>
            </a:pPr>
            <a:r>
              <a:t>Weights: use cell counts because rows represent different population sizes.</a:t>
            </a:r>
          </a:p>
          <a:p>
            <a:pPr>
              <a:defRPr sz="1800"/>
            </a:pPr>
            <a:r>
              <a:t>Assumption: this is descriptive, not causal. Education rank is not exogenous to income because age, occupation, hours, and location may differ by education group.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Headline finding: each one-step increase in education rank is associated with about $196 more per week in weighted mean income.</a:t>
            </a:r>
          </a:p>
          <a:p>
            <a:pPr>
              <a:defRPr sz="1800"/>
            </a:pPr>
            <a:r>
              <a:t>Controlling for year, 2021 incomes are also about $121/week higher than 2016.</a:t>
            </a:r>
          </a:p>
          <a:p>
            <a:pPr>
              <a:defRPr sz="1800"/>
            </a:pPr>
            <a:r>
              <a:t>The low-to-high education gap is roughly $1,372/week, or about $71,300/year.</a:t>
            </a:r>
          </a:p>
          <a:p>
            <a:pPr>
              <a:defRPr sz="1800"/>
            </a:pPr>
            <a:r>
              <a:t>The pattern is visible in every year and is consistent across main groups.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Headline finding: each one-step increase in education rank is associated with about $196 more per week in weighted mean income.</a:t>
            </a:r>
          </a:p>
        </p:txBody>
      </p:sp>
      <p:pic>
        <p:nvPicPr>
          <p:cNvPr id="4" name="Picture 3" descr="weighted_mean_income_by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9928"/>
            <a:ext cx="82296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Robustness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Robustness: the association survives unweighted models, no-year models, alternative income transformations, and year-specific samples.</a:t>
            </a:r>
          </a:p>
          <a:p>
            <a:pPr>
              <a:defRPr sz="1800"/>
            </a:pPr>
            <a:r>
              <a:t>Limitation: grouped census data lack individual-level controls for age, occupation, hours worked, region, and firm characteristics.</a:t>
            </a:r>
          </a:p>
          <a:p>
            <a:pPr>
              <a:defRPr sz="1800"/>
            </a:pPr>
            <a:r>
              <a:t>Largest threat: omitted-variable bias from composition differences across education groups and measurement error from income bracket midpoints.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Conclusion: there is a strong descriptive education-income gradient for Australian males in 2016 and 2021 census aggregates.</a:t>
            </a:r>
          </a:p>
          <a:p>
            <a:pPr>
              <a:defRPr sz="1800"/>
            </a:pPr>
            <a:r>
              <a:t>What we cannot conclude: a causal return to education from this grouped data.</a:t>
            </a:r>
          </a:p>
          <a:p>
            <a:pPr>
              <a:defRPr sz="1800"/>
            </a:pPr>
            <a:r>
              <a:t>Next step: use individual-level microdata with controls, or seek quasi-experimental variation or longitudinal data to address the main threat.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446</Words>
  <Application>Microsoft Office PowerPoint</Application>
  <PresentationFormat>On-screen Show (4:3)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Education and Income in Australia</vt:lpstr>
      <vt:lpstr>Research question and why it matters</vt:lpstr>
      <vt:lpstr>Data</vt:lpstr>
      <vt:lpstr>Empirical strategy</vt:lpstr>
      <vt:lpstr>Main results</vt:lpstr>
      <vt:lpstr>Main results</vt:lpstr>
      <vt:lpstr>Robustness and limitations</vt:lpstr>
      <vt:lpstr>Conclusion and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George Lewis</cp:lastModifiedBy>
  <cp:revision>1</cp:revision>
  <dcterms:created xsi:type="dcterms:W3CDTF">2013-01-27T09:14:16Z</dcterms:created>
  <dcterms:modified xsi:type="dcterms:W3CDTF">2026-05-25T06:18:08Z</dcterms:modified>
  <cp:category/>
</cp:coreProperties>
</file>